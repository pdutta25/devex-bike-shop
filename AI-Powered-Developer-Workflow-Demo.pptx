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762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🎬  AI-Powered Developer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8A6FF"/>
                </a:solidFill>
                <a:latin typeface="Segoe UI"/>
              </a:defRPr>
            </a:pPr>
            <a:r>
              <a:t>From Idea to Production with GitHub Copilot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4720"/>
            <a:ext cx="210312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Live Demo  •  ~12 minutes  •  10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5029200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VS Code + 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029200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GitHub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5029200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GitHub Copilot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799" y="5029200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AI Code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8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Demo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307" y="1828800"/>
            <a:ext cx="2560320" cy="4114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9467" y="201168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3907" y="2029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187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Write Code with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7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Code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787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Inline 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787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Copilot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787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Context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787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Test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1227" y="1828800"/>
            <a:ext cx="2560320" cy="4114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8387" y="201168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2827" y="2029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2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4107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Commit &amp; 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2707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AI Commit Messages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147" y="1828800"/>
            <a:ext cx="2560320" cy="4114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47307" y="201168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1747" y="2029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2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027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Create PR with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1627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AI PR Descriptions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9067" y="1828800"/>
            <a:ext cx="2560320" cy="4114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36227" y="2011680"/>
            <a:ext cx="1097280" cy="3200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ACT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70667" y="2029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3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1947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AI on GitHub.com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0547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Code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0547" y="3611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Repo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0547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•  Actions Debugging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Total demo time: ~12 minutes  •  10 AI-powered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8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800"/>
          </a:xfrm>
          <a:prstGeom prst="rect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egoe UI"/>
              </a:defRPr>
            </a:pPr>
            <a:r>
              <a:t>⚙️  Pre-Demo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28800" cy="508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6400800" cy="3474720"/>
          </a:xfrm>
          <a:prstGeom prst="roundRect">
            <a:avLst>
              <a:gd name="adj" fmla="val 3000"/>
            </a:avLst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urier New"/>
              </a:defRPr>
            </a:pPr>
            <a:r>
              <a:t># Ensure you're on main and up to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FB950"/>
                </a:solidFill>
                <a:latin typeface="Courier New"/>
              </a:defRPr>
            </a:pPr>
            <a:r>
              <a:t>cd ~/Claude/devx-bike-shop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FB950"/>
                </a:solidFill>
                <a:latin typeface="Courier New"/>
              </a:defRPr>
            </a:pPr>
            <a:r>
              <a:t>git checkout main &amp;&amp; git pull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urier New"/>
              </a:defRPr>
            </a:pPr>
            <a:r>
              <a:t># Create a feature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FB950"/>
                </a:solidFill>
                <a:latin typeface="Courier New"/>
              </a:defRPr>
            </a:pPr>
            <a:r>
              <a:t>git checkout -b feature/spring-sale-banner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ourier New"/>
              </a:defRPr>
            </a:pPr>
            <a:r>
              <a:t># Open VS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FB950"/>
                </a:solidFill>
                <a:latin typeface="Courier New"/>
              </a:defRPr>
            </a:pPr>
            <a:r>
              <a:t>code 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737360"/>
            <a:ext cx="3931920" cy="347472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Segoe UI"/>
              </a:defRPr>
            </a:pPr>
            <a:r>
              <a:t>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✅  VS Code installed &amp;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✅  Copilot extension 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383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✅  GitHub CLI authenticated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840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✅  Repo cloned &amp; up to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97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✅  Feature branch created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76200"/>
          </a:xfrm>
          <a:prstGeom prst="rect">
            <a:avLst/>
          </a:prstGeom>
          <a:solidFill>
            <a:srgbClr val="8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✍️  Write Code with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5 features  •  5 minutes  •  From blank file to tested component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800"/>
          </a:xfrm>
          <a:prstGeom prst="rect">
            <a:avLst/>
          </a:prstGeom>
          <a:solidFill>
            <a:srgbClr val="80B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Segoe UI"/>
              </a:defRPr>
            </a:pPr>
            <a:r>
              <a:t>FEATURE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🧠  Copilot Code Completion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"The Mind Reader"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37160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Create new file: src/components/ui/announcement-bar.tsx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15260"/>
            <a:ext cx="101600" cy="1016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Type the component shell and export function stub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72460"/>
            <a:ext cx="101600" cy="1016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STOP — let Copilot ghost-text appear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29660"/>
            <a:ext cx="101600" cy="1016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Tab to accept each suggestion (countdown logic, state, JSX)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86860"/>
            <a:ext cx="101600" cy="1016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Type natural comments if needed: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544060"/>
            <a:ext cx="101600" cy="1016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// calculate days, hours, minutes until March 31 2026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001260"/>
            <a:ext cx="101600" cy="1016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// don't show if user dismissed via localStorage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5458460"/>
            <a:ext cx="101600" cy="1016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65176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  <a:latin typeface="Segoe UI"/>
              </a:defRPr>
            </a:pPr>
            <a:r>
              <a:t>💬  SAY TO 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2918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Segoe UI"/>
              </a:defRPr>
            </a:pPr>
            <a:r>
              <a:t>“I typed 2 lines of real code. Copilot understood my project and wrote the rest.”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8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800"/>
          </a:xfrm>
          <a:prstGeom prst="rect">
            <a:avLst/>
          </a:prstGeom>
          <a:solidFill>
            <a:srgbClr val="CB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371F7"/>
                </a:solidFill>
                <a:latin typeface="Segoe UI"/>
              </a:defRPr>
            </a:pPr>
            <a:r>
              <a:t>FEATURE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🩺  Copilot Inline 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"The Surgeon"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371600" cy="508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Select the entire component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152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Press Cmd+I to open inline chat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724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Type: style with gradient amber-500 → orange-600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296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Add promo code SPRING26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868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Add a Shop Now link to /bikes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5440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Add a dismiss X button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0012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Accept the inline edit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54584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65176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371F7"/>
                </a:solidFill>
                <a:latin typeface="Segoe UI"/>
              </a:defRPr>
            </a:pPr>
            <a:r>
              <a:t>💬  SAY TO 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2918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Segoe UI"/>
              </a:defRPr>
            </a:pPr>
            <a:r>
              <a:t>“I described what I wanted in English. It rewrote the code in place — no copy-paste, no Stack Overflow.”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8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800"/>
          </a:xfrm>
          <a:prstGeom prst="rect">
            <a:avLst/>
          </a:prstGeom>
          <a:solidFill>
            <a:srgbClr val="67C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Segoe UI"/>
              </a:defRPr>
            </a:pPr>
            <a:r>
              <a:t>FEATURE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🤝  Copilot Chat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"The Pair Programmer"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371600" cy="508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Open Copilot Chat panel (Cmd+Shift+I)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15260"/>
            <a:ext cx="101600" cy="1016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Ask: @workspace where should I add AnnouncementBar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72460"/>
            <a:ext cx="101600" cy="1016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so it shows at the top of every storefront page?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29660"/>
            <a:ext cx="101600" cy="1016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Copilot points to src/app/(storefront)/layout.tsx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86860"/>
            <a:ext cx="101600" cy="1016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Click the suggested file to open it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544060"/>
            <a:ext cx="101600" cy="1016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0" y="265176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Segoe UI"/>
              </a:defRPr>
            </a:pPr>
            <a:r>
              <a:t>💬  SAY TO 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2918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Segoe UI"/>
              </a:defRPr>
            </a:pPr>
            <a:r>
              <a:t>“It knows the project structure. It’s not just autocomplete — it understands architecture.”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800"/>
          </a:xfrm>
          <a:prstGeom prst="rect">
            <a:avLst/>
          </a:prstGeom>
          <a:solidFill>
            <a:srgbClr val="FFB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Segoe UI"/>
              </a:defRPr>
            </a:pPr>
            <a:r>
              <a:t>FEATURE 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🔍  Auto-Import &amp; Context 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"Context Awareness"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371600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Open src/app/(storefront)/layout.tsx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15260"/>
            <a:ext cx="101600" cy="10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Find where {children} are rendered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72460"/>
            <a:ext cx="101600" cy="10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Above {children}, start typing &lt;Announce...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29660"/>
            <a:ext cx="101600" cy="10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Copilot suggests &lt;AnnouncementBar /&gt;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86860"/>
            <a:ext cx="101600" cy="10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AND auto-adds the import at the top of the file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544060"/>
            <a:ext cx="101600" cy="10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0" y="265176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Segoe UI"/>
              </a:defRPr>
            </a:pPr>
            <a:r>
              <a:t>💬  SAY TO 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2918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Segoe UI"/>
              </a:defRPr>
            </a:pPr>
            <a:r>
              <a:t>“It auto-imported from the right path. It knows where my component lives.”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800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800"/>
          </a:xfrm>
          <a:prstGeom prst="rect">
            <a:avLst/>
          </a:prstGeom>
          <a:solidFill>
            <a:srgbClr val="FF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5555"/>
                </a:solidFill>
                <a:latin typeface="Segoe UI"/>
              </a:defRPr>
            </a:pPr>
            <a:r>
              <a:t>FEATURE 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🧪  Copilot Generates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"The QA Engineer"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371600" cy="50800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Open Copilot Chat → type: /tests for AnnouncementBar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15260"/>
            <a:ext cx="101600" cy="1016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Copilot generates test cases: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72460"/>
            <a:ext cx="101600" cy="1016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• Renders the banner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29660"/>
            <a:ext cx="101600" cy="1016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• Countdown displays correctly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86860"/>
            <a:ext cx="101600" cy="1016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• Dismiss button hides it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544060"/>
            <a:ext cx="101600" cy="1016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• localStorage persistence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001260"/>
            <a:ext cx="101600" cy="1016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Save to __tests__/announcement-bar.test.tsx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5458460"/>
            <a:ext cx="101600" cy="1016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65176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5555"/>
                </a:solidFill>
                <a:latin typeface="Segoe UI"/>
              </a:defRPr>
            </a:pPr>
            <a:r>
              <a:t>💬  SAY TO 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2918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Segoe UI"/>
              </a:defRPr>
            </a:pPr>
            <a:r>
              <a:t>“It wrote tests covering edge cases I didn’t even think of. Including localStorage mocking.”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76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76200"/>
          </a:xfrm>
          <a:prstGeom prst="rect">
            <a:avLst/>
          </a:prstGeom>
          <a:solidFill>
            <a:srgbClr val="67C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📦  Commit &amp;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AI-generated commit messages that actually make sense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8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800"/>
          </a:xfrm>
          <a:prstGeom prst="rect">
            <a:avLst/>
          </a:prstGeom>
          <a:solidFill>
            <a:srgbClr val="67C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Segoe UI"/>
              </a:defRPr>
            </a:pPr>
            <a:r>
              <a:t>FEATURE #6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✨  Copilot Commit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"No More 'fixed stuff'"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371600" cy="508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Go to Source Control panel in VS Code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15260"/>
            <a:ext cx="101600" cy="1016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Stage the changed files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72460"/>
            <a:ext cx="101600" cy="1016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Click the ✨ sparkle icon next to commit message box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29660"/>
            <a:ext cx="101600" cy="1016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Copilot generates: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86860"/>
            <a:ext cx="101600" cy="1016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feat: add spring sale announcement bar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544060"/>
            <a:ext cx="101600" cy="1016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     with countdown timer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001260"/>
            <a:ext cx="101600" cy="1016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Commit and push to feature/spring-sale-banner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5458460"/>
            <a:ext cx="101600" cy="1016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265176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FB950"/>
                </a:solidFill>
                <a:latin typeface="Segoe UI"/>
              </a:defRPr>
            </a:pPr>
            <a:r>
              <a:t>💬  SAY TO 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2918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Segoe UI"/>
              </a:defRPr>
            </a:pPr>
            <a:r>
              <a:t>“It analyzed the diff and wrote a conventional commit message. No more ‘updated stuff’.”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762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76200"/>
          </a:xfrm>
          <a:prstGeom prst="rect">
            <a:avLst/>
          </a:prstGeom>
          <a:solidFill>
            <a:srgbClr val="CB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📝  Create PR with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From diff to documentation in one click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8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800"/>
          </a:xfrm>
          <a:prstGeom prst="rect">
            <a:avLst/>
          </a:prstGeom>
          <a:solidFill>
            <a:srgbClr val="CB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371F7"/>
                </a:solidFill>
                <a:latin typeface="Segoe UI"/>
              </a:defRPr>
            </a:pPr>
            <a:r>
              <a:t>FEATURE #7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📋  Copilot PR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"The Technical Writer"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371600" cy="508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Go to GitHub → see 'Compare &amp; pull request' banner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152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Click it to create a new PR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724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In description box, click the Copilot ✨ button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296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Copilot generates full PR description: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868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• Summary of changes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5440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• Files modified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0012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94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• What to test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54584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52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• Screenshots suggestion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59156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309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Create the PR → triggers Actions workflow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6372860"/>
            <a:ext cx="101600" cy="1016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0" y="265176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371F7"/>
                </a:solidFill>
                <a:latin typeface="Segoe UI"/>
              </a:defRPr>
            </a:pPr>
            <a:r>
              <a:t>💬  SAY TO AUDIENCE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2918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Segoe UI"/>
              </a:defRPr>
            </a:pPr>
            <a:r>
              <a:t>“From diff to documentation in one click. This is what your PR descriptions should look like.”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76200"/>
          </a:xfrm>
          <a:prstGeom prst="rect">
            <a:avLst/>
          </a:prstGeom>
          <a:solidFill>
            <a:srgbClr val="FFB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🌐  AI on GitHub.com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B949E"/>
                </a:solidFill>
                <a:latin typeface="Segoe UI"/>
              </a:defRPr>
            </a:pPr>
            <a:r>
              <a:t>Code review, repo Q&amp;A, and CI debugging — all AI-powered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800"/>
          </a:xfrm>
          <a:prstGeom prst="rect">
            <a:avLst/>
          </a:prstGeom>
          <a:solidFill>
            <a:srgbClr val="FFB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Segoe UI"/>
              </a:defRPr>
            </a:pPr>
            <a:r>
              <a:t>FEATURE #8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🔎  Copilot Code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"The Senior Reviewer"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371600" cy="50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On the PR page → click Copilot → Review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15260"/>
            <a:ext cx="101600" cy="10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(or it auto-reviews)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72460"/>
            <a:ext cx="101600" cy="10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Copilot leaves inline comments like: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29660"/>
            <a:ext cx="101600" cy="10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• "Consider memoizing the countdown interval"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86860"/>
            <a:ext cx="101600" cy="10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• "The localStorage key should be a constant"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544060"/>
            <a:ext cx="101600" cy="10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• Potential accessibility suggestions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001260"/>
            <a:ext cx="101600" cy="101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65176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Segoe UI"/>
              </a:defRPr>
            </a:pPr>
            <a:r>
              <a:t>💬  SAY TO AUDIENCE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2918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Segoe UI"/>
              </a:defRPr>
            </a:pPr>
            <a:r>
              <a:t>“A senior engineer review in 30 seconds. It catches things humans miss at 2pm on a Friday.”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8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800"/>
          </a:xfrm>
          <a:prstGeom prst="rect">
            <a:avLst/>
          </a:prstGeom>
          <a:solidFill>
            <a:srgbClr val="A1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9C0FF"/>
                </a:solidFill>
                <a:latin typeface="Segoe UI"/>
              </a:defRPr>
            </a:pPr>
            <a:r>
              <a:t>FEATURE #9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💬  Copilot Chat on GitHub.com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"Ask Your Repo Anything"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371600" cy="508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Click the Copilot icon in the GitHub header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15260"/>
            <a:ext cx="101600" cy="101600"/>
          </a:xfrm>
          <a:prstGeom prst="ellipse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Ask: What does the checkout flow look like?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72460"/>
            <a:ext cx="101600" cy="101600"/>
          </a:xfrm>
          <a:prstGeom prst="ellipse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Ask: What API endpoints are available?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29660"/>
            <a:ext cx="101600" cy="101600"/>
          </a:xfrm>
          <a:prstGeom prst="ellipse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Ask: Summarize what this PR changes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86860"/>
            <a:ext cx="101600" cy="101600"/>
          </a:xfrm>
          <a:prstGeom prst="ellipse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0" y="265176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9C0FF"/>
                </a:solidFill>
                <a:latin typeface="Segoe UI"/>
              </a:defRPr>
            </a:pPr>
            <a:r>
              <a:t>💬  SAY TO AUDIENCE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2918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Segoe UI"/>
              </a:defRPr>
            </a:pPr>
            <a:r>
              <a:t>“New team member joins? They don’t need to read 50 files. They ask the repo directly.”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0800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0800"/>
          </a:xfrm>
          <a:prstGeom prst="rect">
            <a:avLst/>
          </a:prstGeom>
          <a:solidFill>
            <a:srgbClr val="FF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5555"/>
                </a:solidFill>
                <a:latin typeface="Segoe UI"/>
              </a:defRPr>
            </a:pPr>
            <a:r>
              <a:t>FEATURE #10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🛠️  Copilot in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"The DevOps Whisperer"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1371600" cy="50800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Click on the Actions tab → click the running workflow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715260"/>
            <a:ext cx="101600" cy="1016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If any step fails → Copilot shows 'Fix with Copilot'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72460"/>
            <a:ext cx="101600" cy="1016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Or in Copilot Chat: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629660"/>
            <a:ext cx="101600" cy="1016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  @github why did my last workflow run fail?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086860"/>
            <a:ext cx="101600" cy="1016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9D1D9"/>
                </a:solidFill>
                <a:latin typeface="Segoe UI"/>
              </a:defRPr>
            </a:pPr>
            <a:r>
              <a:t>Copilot explains the error and suggests a fix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544060"/>
            <a:ext cx="101600" cy="1016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0" y="2651760"/>
            <a:ext cx="3931920" cy="3200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5555"/>
                </a:solidFill>
                <a:latin typeface="Segoe UI"/>
              </a:defRPr>
            </a:pPr>
            <a:r>
              <a:t>💬  SAY TO AUDIENCE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2918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Segoe UI"/>
              </a:defRPr>
            </a:pPr>
            <a:r>
              <a:t>“No more googling cryptic build errors. AI explains the failure and suggests the fix.”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762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🎯  The Punchline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1513840"/>
            <a:ext cx="152400" cy="1524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1463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Segoe UI"/>
              </a:defRPr>
            </a:pPr>
            <a:r>
              <a:t>✅   Copilot wrote the component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1989328"/>
            <a:ext cx="152400" cy="1524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9385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Segoe UI"/>
              </a:defRPr>
            </a:pPr>
            <a:r>
              <a:t>🎨   Copilot styled it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2464816"/>
            <a:ext cx="152400" cy="1524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24140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Segoe UI"/>
              </a:defRPr>
            </a:pPr>
            <a:r>
              <a:t>📍   Copilot told me where to put it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2940304"/>
            <a:ext cx="152400" cy="1524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88950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Segoe UI"/>
              </a:defRPr>
            </a:pPr>
            <a:r>
              <a:t>🧪   Copilot wrote the tests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513840"/>
            <a:ext cx="152400" cy="1524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4630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Segoe UI"/>
              </a:defRPr>
            </a:pPr>
            <a:r>
              <a:t>📝   Copilot wrote the commit message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1989328"/>
            <a:ext cx="152400" cy="15240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385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Segoe UI"/>
              </a:defRPr>
            </a:pPr>
            <a:r>
              <a:t>📋   Copilot wrote the PR description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464816"/>
            <a:ext cx="152400" cy="1524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4140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Segoe UI"/>
              </a:defRPr>
            </a:pPr>
            <a:r>
              <a:t>🔎   Copilot reviewed the code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940304"/>
            <a:ext cx="152400" cy="152400"/>
          </a:xfrm>
          <a:prstGeom prst="ellipse">
            <a:avLst/>
          </a:prstGeom>
          <a:solidFill>
            <a:srgbClr val="E0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88950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9D1D9"/>
                </a:solidFill>
                <a:latin typeface="Segoe UI"/>
              </a:defRPr>
            </a:pPr>
            <a:r>
              <a:t>🛠️   Copilot explained the 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749039"/>
            <a:ext cx="75895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3840480"/>
            <a:ext cx="7040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A623"/>
                </a:solidFill>
                <a:latin typeface="Segoe UI"/>
              </a:defRPr>
            </a:pPr>
            <a:r>
              <a:t>I typed maybe 20 words of actual code. The rest was AI.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This is how developers work in 2026.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6095847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5847" y="6583680"/>
            <a:ext cx="6095847" cy="508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76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76200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50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8A6FF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github.com/copilot  •  code.visualstudio.com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